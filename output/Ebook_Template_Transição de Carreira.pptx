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0" r:id="rId4"/>
    <p:sldId id="267" r:id="rId5"/>
    <p:sldId id="268" r:id="rId6"/>
    <p:sldId id="265" r:id="rId7"/>
    <p:sldId id="269" r:id="rId8"/>
    <p:sldId id="270" r:id="rId9"/>
    <p:sldId id="271" r:id="rId10"/>
    <p:sldId id="266" r:id="rId11"/>
    <p:sldId id="272" r:id="rId12"/>
    <p:sldId id="273" r:id="rId13"/>
    <p:sldId id="274" r:id="rId14"/>
    <p:sldId id="275" r:id="rId1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9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877"/>
    <a:srgbClr val="BF494F"/>
    <a:srgbClr val="196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620" y="236"/>
      </p:cViewPr>
      <p:guideLst>
        <p:guide orient="horz" pos="4009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FD209-BFDE-4649-A24E-A3C63C481A61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0A6E0-133E-4C08-80EA-741C862CF7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68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0A6E0-133E-4C08-80EA-741C862CF7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557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5AA6-28B4-2069-C7C2-F58BE6B6D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422FA22-99DF-237F-8AF2-D67FBBD0C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E75B19-F007-8301-630A-8A6E836A9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D32B1F-4AAF-6665-BE84-4DA6DFA82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0A6E0-133E-4C08-80EA-741C862CF7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356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0A6E0-133E-4C08-80EA-741C862CF7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47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B6C2-1747-A796-11BF-43078685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6F03CD-B2E0-0066-8D12-3254B3167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A1B54A-2FF1-E457-450F-320D81ED1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EE4A29-207D-29BC-9FE8-BEC121367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0A6E0-133E-4C08-80EA-741C862CF7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9716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C5FD-FAC5-4456-BC39-050C0EFBE1B0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83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71B5-AF6A-467E-AEF4-20DD7FA75163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22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6B48-A9F5-4997-AC01-D6C9612F9F94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79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A8027-1715-455B-AA89-1B836D6150B8}" type="datetime1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99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A85A-E05F-4F79-8391-9AD4BEBCADB9}" type="datetime1">
              <a:rPr lang="pt-BR" smtClean="0"/>
              <a:t>16/11/2025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03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08C07-BD47-466E-BAA6-558A51C68BDC}" type="datetime1">
              <a:rPr lang="pt-BR" smtClean="0"/>
              <a:t>16/11/2025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21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DA1-AAD7-4E02-83D2-84EE88FC05AF}" type="datetime1">
              <a:rPr lang="pt-BR" smtClean="0"/>
              <a:t>16/11/2025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92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2B88B-DAF4-4CB7-AA5B-B5F95B59576C}" type="datetime1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47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C7550-388F-40AD-A7E5-F223510F8E0B}" type="datetime1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00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F60E-A675-490D-9D84-16BED9EE0EDD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71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137E4-84A0-4440-BC66-7537D5CCD4BE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Sua Jornada rumo à Tecnologia |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31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EC604-826A-42A6-843B-DAD0EE355D28}" type="datetime1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Sua Jornada rumo à Tecnologia |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94B86-1664-47E8-8FCD-11751E583C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50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ranciele-srod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FrancieleSRodrigues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4ED2874-F151-FC83-4C26-824521F33454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7C3E3CAA-DB9A-748C-534F-840F49117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"/>
          <a:stretch>
            <a:fillRect/>
          </a:stretch>
        </p:blipFill>
        <p:spPr>
          <a:xfrm>
            <a:off x="1408368" y="3427098"/>
            <a:ext cx="6784463" cy="6637955"/>
          </a:xfrm>
          <a:prstGeom prst="flowChartConnector">
            <a:avLst/>
          </a:prstGeom>
          <a:ln>
            <a:solidFill>
              <a:schemeClr val="bg1"/>
            </a:solidFill>
          </a:ln>
          <a:effectLst>
            <a:glow rad="101600">
              <a:schemeClr val="tx2">
                <a:lumMod val="10000"/>
                <a:lumOff val="90000"/>
                <a:alpha val="60000"/>
              </a:schemeClr>
            </a:glo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8859BC-2644-CAFD-1B6B-AF35D9B17220}"/>
              </a:ext>
            </a:extLst>
          </p:cNvPr>
          <p:cNvSpPr txBox="1"/>
          <p:nvPr/>
        </p:nvSpPr>
        <p:spPr>
          <a:xfrm>
            <a:off x="0" y="461286"/>
            <a:ext cx="94910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w Cen MT" panose="020B0602020104020603" pitchFamily="34" charset="0"/>
              </a:rPr>
              <a:t>Sua Jornada Rumo </a:t>
            </a:r>
          </a:p>
          <a:p>
            <a:pPr algn="ctr"/>
            <a:r>
              <a:rPr lang="pt-BR" sz="5400" b="1" dirty="0">
                <a:solidFill>
                  <a:schemeClr val="bg1"/>
                </a:solidFill>
                <a:latin typeface="Tw Cen MT" panose="020B0602020104020603" pitchFamily="34" charset="0"/>
              </a:rPr>
              <a:t>à Tecnologia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0A1395E-409C-03A2-65A4-FFBABF2011FC}"/>
              </a:ext>
            </a:extLst>
          </p:cNvPr>
          <p:cNvSpPr txBox="1"/>
          <p:nvPr/>
        </p:nvSpPr>
        <p:spPr>
          <a:xfrm>
            <a:off x="737499" y="2246853"/>
            <a:ext cx="8272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Tw Cen MT" panose="020B0602020104020603" pitchFamily="34" charset="0"/>
              </a:rPr>
              <a:t>Acelere Sua Entrada no Mundo Tech</a:t>
            </a:r>
          </a:p>
        </p:txBody>
      </p:sp>
      <p:sp>
        <p:nvSpPr>
          <p:cNvPr id="13" name="texto_componente">
            <a:extLst>
              <a:ext uri="{FF2B5EF4-FFF2-40B4-BE49-F238E27FC236}">
                <a16:creationId xmlns:a16="http://schemas.microsoft.com/office/drawing/2014/main" id="{FFC4D455-B70C-7D75-F1EB-A514F5E868D9}"/>
              </a:ext>
            </a:extLst>
          </p:cNvPr>
          <p:cNvSpPr txBox="1"/>
          <p:nvPr/>
        </p:nvSpPr>
        <p:spPr>
          <a:xfrm>
            <a:off x="212651" y="10660524"/>
            <a:ext cx="9175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w Cen MT" panose="020B0602020104020603" pitchFamily="34" charset="0"/>
              </a:rPr>
              <a:t>Se você pensa em migrar para a área de tecnologia, este e-book é o ponto de partida. Aqui, vamos destacar as habilidades técnicas e comportamentais essenciais para seu sucesso.</a:t>
            </a:r>
          </a:p>
        </p:txBody>
      </p:sp>
    </p:spTree>
    <p:extLst>
      <p:ext uri="{BB962C8B-B14F-4D97-AF65-F5344CB8AC3E}">
        <p14:creationId xmlns:p14="http://schemas.microsoft.com/office/powerpoint/2010/main" val="424056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6586-659E-8FBF-C578-71C88A76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09AB1AE-9878-683D-5EC3-834F0FD22704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135877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B2F4A58A-0B5C-C4AC-AA1E-3025FC6338AF}"/>
              </a:ext>
            </a:extLst>
          </p:cNvPr>
          <p:cNvSpPr txBox="1"/>
          <p:nvPr/>
        </p:nvSpPr>
        <p:spPr>
          <a:xfrm>
            <a:off x="1547037" y="5304597"/>
            <a:ext cx="650712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800" b="1" dirty="0">
                <a:solidFill>
                  <a:schemeClr val="bg1"/>
                </a:solidFill>
                <a:latin typeface="+mj-lt"/>
              </a:rPr>
              <a:t>FUNDAMENTOS DA PROGRAMAÇÃO COM JAVASCRIPT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74F2E95B-AE39-44E9-1697-75D35A9C9B65}"/>
              </a:ext>
            </a:extLst>
          </p:cNvPr>
          <p:cNvSpPr txBox="1"/>
          <p:nvPr/>
        </p:nvSpPr>
        <p:spPr>
          <a:xfrm>
            <a:off x="1370749" y="1823114"/>
            <a:ext cx="650712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00" b="1" dirty="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3B7ABE49-6A64-C124-33B9-90BF3E6DFF32}"/>
              </a:ext>
            </a:extLst>
          </p:cNvPr>
          <p:cNvSpPr txBox="1"/>
          <p:nvPr/>
        </p:nvSpPr>
        <p:spPr>
          <a:xfrm>
            <a:off x="1547037" y="8472415"/>
            <a:ext cx="6507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No mundo da tecnologia, o código é a linguagem, e o JavaScript é uma das linguagens mais acessíveis e versáteis para quem está começando.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088FE0ED-30CE-7270-379E-CECF6B39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Sua Jornada rumo à Tecnologia | 2025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0FF881E5-0B6A-E4F8-2D07-45F58A89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56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9B79-1550-0B04-5EB1-3147B7DD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079DBDF1-DBEA-5AAC-7EFC-E73F5DDF72CA}"/>
              </a:ext>
            </a:extLst>
          </p:cNvPr>
          <p:cNvSpPr txBox="1"/>
          <p:nvPr/>
        </p:nvSpPr>
        <p:spPr>
          <a:xfrm>
            <a:off x="1191126" y="5127252"/>
            <a:ext cx="72069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JavaScript não é usado apenas para fazer sites bonitos; ele está por trás de aplicações web complexas, servidores (</a:t>
            </a:r>
            <a:r>
              <a:rPr lang="pt-BR" sz="2400" i="1" dirty="0"/>
              <a:t>Node.js</a:t>
            </a:r>
            <a:r>
              <a:rPr lang="pt-BR" sz="2400" dirty="0"/>
              <a:t>), e até mesmo aplicativos móveis. 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É um excelente primeiro passo por ser visual e imediato: você escreve o código e vê o resultado no seu navegador.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6980CE27-1A39-555B-0272-AB95D40EBB2F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1: Fundamentos da Programação com JavaScript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7806D258-4A9B-E287-B0FF-1A57A26285E4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O Poder do JavaScript: </a:t>
            </a:r>
          </a:p>
          <a:p>
            <a:pPr algn="ctr"/>
            <a:r>
              <a:rPr lang="pt-BR" sz="3200" b="1" dirty="0"/>
              <a:t>Uma Linguagem para o Mundo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8C21E8-8ECD-D2D8-C885-57B3FEEA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0A4825-8483-7AB9-13C3-C7E9D94E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3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2CAC0CC1-8C2F-E676-BD4E-1859FB8676E1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85C5C5-2821-7475-91CB-CBDB1BA3B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398" y="8623242"/>
            <a:ext cx="3241947" cy="324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sango 9">
            <a:extLst>
              <a:ext uri="{FF2B5EF4-FFF2-40B4-BE49-F238E27FC236}">
                <a16:creationId xmlns:a16="http://schemas.microsoft.com/office/drawing/2014/main" id="{8D0613C4-A96E-6CD6-8F7C-5673FF49FA2E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0DF4272C-BAC5-6534-9041-5D183B351251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998E7726-6781-950D-5C0F-1F55CD8AF775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274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16AF-37FB-EF19-3A69-6F95A37D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4313A7FD-BBAB-BCB1-F8F8-30C95B2A7ED0}"/>
              </a:ext>
            </a:extLst>
          </p:cNvPr>
          <p:cNvSpPr txBox="1"/>
          <p:nvPr/>
        </p:nvSpPr>
        <p:spPr>
          <a:xfrm>
            <a:off x="1239253" y="5127252"/>
            <a:ext cx="70931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Antes de aprender qualquer sintaxe (as "palavras" da linguagem), você precisa entender a Lógica de Programação. 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Pense nela como a receita. Ela dita a ordem, os passos e as condições para resolver um problema.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312A53DE-1DB4-4FA4-E4B7-41F5417C0351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1: Fundamentos da Programação com JavaScript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3E3DD1DE-F449-5032-9CFD-5BB4739B8286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Lógica de Programação: </a:t>
            </a:r>
          </a:p>
          <a:p>
            <a:pPr algn="ctr"/>
            <a:r>
              <a:rPr lang="pt-BR" sz="3200" b="1" dirty="0"/>
              <a:t>A Receita do Bolo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EAE553-465D-281C-FDED-836FFA14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FA7B4F-4AFB-55C4-C5D1-D69638A5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4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B23083CE-63F7-27F6-C89A-5BBCB0887FC8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52C093C6-4D43-BA4F-2DFC-8C6893842B55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E37F37CF-5AA5-5C1A-19FB-3B80E6755605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2C6EB302-9431-FE9C-311A-525530BA99FE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A9C9497-C3D4-CA95-E1D6-B08937E07673}"/>
              </a:ext>
            </a:extLst>
          </p:cNvPr>
          <p:cNvGrpSpPr/>
          <p:nvPr/>
        </p:nvGrpSpPr>
        <p:grpSpPr>
          <a:xfrm>
            <a:off x="1254024" y="8078113"/>
            <a:ext cx="7093151" cy="1363423"/>
            <a:chOff x="744279" y="6760235"/>
            <a:chExt cx="7900416" cy="1363423"/>
          </a:xfrm>
        </p:grpSpPr>
        <p:pic>
          <p:nvPicPr>
            <p:cNvPr id="19" name="Gráfico 18" descr="Caixa de embalagem aberta estrutura de tópicos">
              <a:extLst>
                <a:ext uri="{FF2B5EF4-FFF2-40B4-BE49-F238E27FC236}">
                  <a16:creationId xmlns:a16="http://schemas.microsoft.com/office/drawing/2014/main" id="{789DB70A-E594-0E8F-DFC6-DA31B4EAE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2133" y="6760235"/>
              <a:ext cx="1136955" cy="1136954"/>
            </a:xfrm>
            <a:prstGeom prst="rect">
              <a:avLst/>
            </a:prstGeom>
          </p:spPr>
        </p:pic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96DC4BEA-556A-8C3E-CABA-01EAE7605D1C}"/>
                </a:ext>
              </a:extLst>
            </p:cNvPr>
            <p:cNvSpPr/>
            <p:nvPr/>
          </p:nvSpPr>
          <p:spPr>
            <a:xfrm>
              <a:off x="744279" y="6804837"/>
              <a:ext cx="7900416" cy="10772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42CB6C2F-56EB-A73B-9A41-0638CCE2C7D3}"/>
                </a:ext>
              </a:extLst>
            </p:cNvPr>
            <p:cNvSpPr txBox="1"/>
            <p:nvPr/>
          </p:nvSpPr>
          <p:spPr>
            <a:xfrm>
              <a:off x="1896533" y="7015662"/>
              <a:ext cx="674816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/>
                <a:t>Variáveis: </a:t>
              </a:r>
              <a:r>
                <a:rPr lang="pt-BR" sz="2400" dirty="0"/>
                <a:t>São "caixinhas" que guardam informações.</a:t>
              </a:r>
            </a:p>
            <a:p>
              <a:pPr algn="ctr"/>
              <a:endParaRPr lang="pt-BR" dirty="0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B463AB3-8A8E-01EB-337F-2614429B6A08}"/>
              </a:ext>
            </a:extLst>
          </p:cNvPr>
          <p:cNvGrpSpPr/>
          <p:nvPr/>
        </p:nvGrpSpPr>
        <p:grpSpPr>
          <a:xfrm>
            <a:off x="1191027" y="9925965"/>
            <a:ext cx="7141375" cy="1303410"/>
            <a:chOff x="8137452" y="6383147"/>
            <a:chExt cx="8611235" cy="1303410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35C96AA3-497F-70E7-6A54-74CAD44E054F}"/>
                </a:ext>
              </a:extLst>
            </p:cNvPr>
            <p:cNvGrpSpPr/>
            <p:nvPr/>
          </p:nvGrpSpPr>
          <p:grpSpPr>
            <a:xfrm>
              <a:off x="8137452" y="6383147"/>
              <a:ext cx="8611235" cy="1303410"/>
              <a:chOff x="744279" y="6804837"/>
              <a:chExt cx="8611235" cy="1303410"/>
            </a:xfrm>
          </p:grpSpPr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B3838CED-9660-743B-4B97-22A3D0F3B8D8}"/>
                  </a:ext>
                </a:extLst>
              </p:cNvPr>
              <p:cNvSpPr/>
              <p:nvPr/>
            </p:nvSpPr>
            <p:spPr>
              <a:xfrm>
                <a:off x="744279" y="6804837"/>
                <a:ext cx="8377224" cy="10772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E58F88E-78D9-5639-3492-28C07B23167E}"/>
                  </a:ext>
                </a:extLst>
              </p:cNvPr>
              <p:cNvSpPr txBox="1"/>
              <p:nvPr/>
            </p:nvSpPr>
            <p:spPr>
              <a:xfrm>
                <a:off x="1887677" y="6907918"/>
                <a:ext cx="74678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b="1" dirty="0"/>
                  <a:t>Condicionais (</a:t>
                </a:r>
                <a:r>
                  <a:rPr lang="pt-BR" sz="2400" b="1" dirty="0" err="1"/>
                  <a:t>If</a:t>
                </a:r>
                <a:r>
                  <a:rPr lang="pt-BR" sz="2400" b="1" dirty="0"/>
                  <a:t>/Else): </a:t>
                </a:r>
                <a:r>
                  <a:rPr lang="pt-BR" sz="2400" dirty="0"/>
                  <a:t>Permitem que seu código tome decisões ("Se chover, levo guarda-chuva; senão, não levo").</a:t>
                </a:r>
              </a:p>
            </p:txBody>
          </p:sp>
        </p:grpSp>
        <p:pic>
          <p:nvPicPr>
            <p:cNvPr id="35" name="Gráfico 34" descr="fluxo de trabalho estrutura de tópicos">
              <a:extLst>
                <a:ext uri="{FF2B5EF4-FFF2-40B4-BE49-F238E27FC236}">
                  <a16:creationId xmlns:a16="http://schemas.microsoft.com/office/drawing/2014/main" id="{85A6F3B6-6357-CA32-47FD-0AC93D44A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75304" y="6501362"/>
              <a:ext cx="1067741" cy="10677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073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370E-EC49-EA09-4C42-0EE5CDA0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7831647B-75B0-0673-450C-2CD666D8E57E}"/>
              </a:ext>
            </a:extLst>
          </p:cNvPr>
          <p:cNvSpPr txBox="1"/>
          <p:nvPr/>
        </p:nvSpPr>
        <p:spPr>
          <a:xfrm>
            <a:off x="1179095" y="5052882"/>
            <a:ext cx="7206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Imagine que você precisa calcular a média de 3 notas para saber se o aluno passou.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CE6DADA0-68CF-3D4E-7F12-3AFE11B5B766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1: Fundamentos da Programação com JavaScript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F21291CC-CA3F-56A0-ED53-FDDC87F8CCC3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Exemplo de Código Real: Calculando uma Média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75156B-1174-61C8-AD3C-FDABB664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57B6B7-61DD-D1CF-2F9B-773D082A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5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C32B5ACE-394B-C56C-7544-4DF45D5236FE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9BC9D8A6-CAB4-D159-0D13-F474CFA6A74F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EE552C55-51DA-FC92-C9CB-0A750E081096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CC7C83BB-040F-55DC-3765-30B0659744A6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o_componente">
            <a:extLst>
              <a:ext uri="{FF2B5EF4-FFF2-40B4-BE49-F238E27FC236}">
                <a16:creationId xmlns:a16="http://schemas.microsoft.com/office/drawing/2014/main" id="{2304DDC4-C7FA-5427-406D-794E97052810}"/>
              </a:ext>
            </a:extLst>
          </p:cNvPr>
          <p:cNvSpPr txBox="1"/>
          <p:nvPr/>
        </p:nvSpPr>
        <p:spPr>
          <a:xfrm>
            <a:off x="1109898" y="10288150"/>
            <a:ext cx="7345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Este pequeno bloco de código resume a lógica fundamental: armazenar dados, processá-los e tomar uma decisão. 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1D7A9E1F-ADD3-7EC5-70F4-2F478C53E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820" y="6211431"/>
            <a:ext cx="5597558" cy="37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1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F834D-6323-61B1-427F-937CF49B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DDA568F-818C-C620-BDC7-8E1262BD364F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135877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EFC7C13-A55A-EE90-2659-7386107030DB}"/>
              </a:ext>
            </a:extLst>
          </p:cNvPr>
          <p:cNvSpPr txBox="1"/>
          <p:nvPr/>
        </p:nvSpPr>
        <p:spPr>
          <a:xfrm>
            <a:off x="1037242" y="5091422"/>
            <a:ext cx="784767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800" b="1" dirty="0">
                <a:solidFill>
                  <a:schemeClr val="bg1"/>
                </a:solidFill>
                <a:latin typeface="+mj-lt"/>
              </a:rPr>
              <a:t>ESTRUTURAS DE DADOS E ALGORITMOS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15DDCCBB-4DE5-281D-D7DF-F7FC0DE740FE}"/>
              </a:ext>
            </a:extLst>
          </p:cNvPr>
          <p:cNvSpPr txBox="1"/>
          <p:nvPr/>
        </p:nvSpPr>
        <p:spPr>
          <a:xfrm>
            <a:off x="1490840" y="1876485"/>
            <a:ext cx="650712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00" b="1" dirty="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BB99AB7E-E664-A9C1-9015-95FEB4BDBB6C}"/>
              </a:ext>
            </a:extLst>
          </p:cNvPr>
          <p:cNvSpPr txBox="1"/>
          <p:nvPr/>
        </p:nvSpPr>
        <p:spPr>
          <a:xfrm>
            <a:off x="1667128" y="7710178"/>
            <a:ext cx="6507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Este capítulo foca em como organizar e processar informações de forma eficiente. 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E58D8A7A-2329-ED35-8973-4D0B9767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Sua Jornada rumo à Tecnologia | 2025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0BE06C7-6A28-1021-4515-287A755E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67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05AA8-82FE-7E05-1716-C8487FC2D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51B31950-EBA9-F78D-AED4-22F50E29F391}"/>
              </a:ext>
            </a:extLst>
          </p:cNvPr>
          <p:cNvSpPr txBox="1"/>
          <p:nvPr/>
        </p:nvSpPr>
        <p:spPr>
          <a:xfrm>
            <a:off x="1213228" y="5127252"/>
            <a:ext cx="71727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Estruturas de Dados são formas específicas de organizar e armazenar dados para que possam ser acessados e modificados de maneira eficiente. 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Pense nelas como gavetas diferentes no seu armário: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21A36EBF-35B7-1744-45AE-A8239502A27A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2: Estrutura de Dados </a:t>
            </a:r>
          </a:p>
          <a:p>
            <a:pPr algn="ctr"/>
            <a:r>
              <a:rPr lang="pt-BR" sz="4000" b="1" dirty="0">
                <a:latin typeface="+mj-lt"/>
              </a:rPr>
              <a:t>e Algoritmo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A6AB5C81-534D-5B84-B34E-02CB5A97867C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Organização é Tudo: Estruturas de Dados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04A268-5A50-D48B-F9C3-59BCED77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CE328E-88F1-4794-4AF0-AF874B6D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7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22B3E2D8-97A3-A67D-8E3C-33DAC9448A7E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AD7837EA-7B3A-6189-6CC5-0235EEA49189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198F4651-B5E7-0B02-D953-3F3486DF71D6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F0572002-9BD6-4A51-051E-CEFF0D8C86BD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20">
            <a:extLst>
              <a:ext uri="{FF2B5EF4-FFF2-40B4-BE49-F238E27FC236}">
                <a16:creationId xmlns:a16="http://schemas.microsoft.com/office/drawing/2014/main" id="{42CB6C2F-56EB-A73B-9A41-0638CCE2C7D3}"/>
              </a:ext>
            </a:extLst>
          </p:cNvPr>
          <p:cNvSpPr txBox="1"/>
          <p:nvPr/>
        </p:nvSpPr>
        <p:spPr>
          <a:xfrm>
            <a:off x="1213228" y="7327455"/>
            <a:ext cx="7172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 err="1"/>
              <a:t>Arrays</a:t>
            </a:r>
            <a:r>
              <a:rPr lang="pt-BR" sz="2400" b="1" dirty="0"/>
              <a:t> (Listas): </a:t>
            </a:r>
            <a:r>
              <a:rPr lang="pt-BR" sz="2400" dirty="0"/>
              <a:t>A forma mais comum de guardar uma coleção ordenada de itens.</a:t>
            </a:r>
          </a:p>
          <a:p>
            <a:pPr algn="ctr"/>
            <a:r>
              <a:rPr lang="pt-BR" sz="2400" dirty="0"/>
              <a:t>Exemplo: uma lista de nomes.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E58F88E-78D9-5639-3492-28C07B23167E}"/>
              </a:ext>
            </a:extLst>
          </p:cNvPr>
          <p:cNvSpPr txBox="1"/>
          <p:nvPr/>
        </p:nvSpPr>
        <p:spPr>
          <a:xfrm>
            <a:off x="1213229" y="8865552"/>
            <a:ext cx="7172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/>
              <a:t>Objetos: </a:t>
            </a:r>
            <a:r>
              <a:rPr lang="pt-BR" sz="2400" dirty="0"/>
              <a:t>Usados para representar entidades com propriedades.</a:t>
            </a:r>
          </a:p>
          <a:p>
            <a:pPr algn="ctr"/>
            <a:r>
              <a:rPr lang="pt-BR" sz="2400" dirty="0"/>
              <a:t>Exemplo: um carro tem cor, modelo e ano.</a:t>
            </a:r>
          </a:p>
        </p:txBody>
      </p:sp>
    </p:spTree>
    <p:extLst>
      <p:ext uri="{BB962C8B-B14F-4D97-AF65-F5344CB8AC3E}">
        <p14:creationId xmlns:p14="http://schemas.microsoft.com/office/powerpoint/2010/main" val="293649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8425-8A5C-A524-1197-FCE41641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6AC159C2-FD30-2B9C-8750-1ECA83DC3C02}"/>
              </a:ext>
            </a:extLst>
          </p:cNvPr>
          <p:cNvSpPr txBox="1"/>
          <p:nvPr/>
        </p:nvSpPr>
        <p:spPr>
          <a:xfrm>
            <a:off x="1212113" y="4631734"/>
            <a:ext cx="7209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Um Algoritmo é um conjunto finito de regras bem definidas que especifica uma sequência de operações para resolver um problema. 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Um algoritmo de busca, por exemplo, é a maneira como você procura um livro em uma biblioteca.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1AF4BFAF-60BE-0D9F-458B-FF21F5ED3F5C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2: Estrutura de Dados </a:t>
            </a:r>
          </a:p>
          <a:p>
            <a:pPr algn="ctr"/>
            <a:r>
              <a:rPr lang="pt-BR" sz="4000" b="1" dirty="0">
                <a:latin typeface="+mj-lt"/>
              </a:rPr>
              <a:t>e Algoritmo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DE1507EA-09C6-D0DB-A842-3D9C217C4150}"/>
              </a:ext>
            </a:extLst>
          </p:cNvPr>
          <p:cNvSpPr txBox="1"/>
          <p:nvPr/>
        </p:nvSpPr>
        <p:spPr>
          <a:xfrm>
            <a:off x="1547037" y="3613180"/>
            <a:ext cx="6507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Otimizando a Busca: Algoritmos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1077E3-986D-DE48-4701-D489AA74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6567D7-6E6E-D0E1-C4AF-98A8A2CC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8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654CD41D-4ABA-419E-105C-139D1AA7DAE0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CB0D6D75-9ABC-40A3-F225-7501A4CA019C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3D2D8E25-B001-6D11-F76D-E8C8A1AB4B3C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1DE7BFBB-D754-DD15-2733-735FDC2860D4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20">
            <a:extLst>
              <a:ext uri="{FF2B5EF4-FFF2-40B4-BE49-F238E27FC236}">
                <a16:creationId xmlns:a16="http://schemas.microsoft.com/office/drawing/2014/main" id="{5EF0AA76-F273-CD5B-DC4E-FA0E59FE05E7}"/>
              </a:ext>
            </a:extLst>
          </p:cNvPr>
          <p:cNvSpPr txBox="1"/>
          <p:nvPr/>
        </p:nvSpPr>
        <p:spPr>
          <a:xfrm>
            <a:off x="2274326" y="7279621"/>
            <a:ext cx="5052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/>
              <a:t>Busca Linear: </a:t>
            </a:r>
          </a:p>
          <a:p>
            <a:pPr algn="ctr"/>
            <a:r>
              <a:rPr lang="pt-BR" sz="2400" dirty="0"/>
              <a:t>Olhar livro por livro, do início ao fim.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68EBF6-A946-8579-BCE4-ADAB1A41EEDE}"/>
              </a:ext>
            </a:extLst>
          </p:cNvPr>
          <p:cNvSpPr txBox="1"/>
          <p:nvPr/>
        </p:nvSpPr>
        <p:spPr>
          <a:xfrm>
            <a:off x="2274326" y="8626320"/>
            <a:ext cx="50525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/>
              <a:t>Busca Binária:</a:t>
            </a:r>
            <a:r>
              <a:rPr lang="pt-BR" sz="2400" dirty="0"/>
              <a:t> </a:t>
            </a:r>
          </a:p>
          <a:p>
            <a:pPr algn="ctr"/>
            <a:r>
              <a:rPr lang="pt-BR" sz="2400" dirty="0"/>
              <a:t>Muito mais rápida, usada em listas ordenadas. Você divide a lista na metade e descarta a parte em que o item procurado não pode estar.</a:t>
            </a:r>
          </a:p>
        </p:txBody>
      </p:sp>
    </p:spTree>
    <p:extLst>
      <p:ext uri="{BB962C8B-B14F-4D97-AF65-F5344CB8AC3E}">
        <p14:creationId xmlns:p14="http://schemas.microsoft.com/office/powerpoint/2010/main" val="373812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887D-56E4-3DCB-0D7E-FB8952E7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99A60CB9-EDF5-0B82-19BF-84E38EC3E407}"/>
              </a:ext>
            </a:extLst>
          </p:cNvPr>
          <p:cNvSpPr txBox="1"/>
          <p:nvPr/>
        </p:nvSpPr>
        <p:spPr>
          <a:xfrm>
            <a:off x="1215920" y="4890414"/>
            <a:ext cx="7169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Em vez de ter variáveis soltas, agrupamos as informações de um usuário em um Objeto para torná-las mais fáceis de gerenciar.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53330B58-661F-2EC2-A813-7369E511C432}"/>
              </a:ext>
            </a:extLst>
          </p:cNvPr>
          <p:cNvSpPr txBox="1"/>
          <p:nvPr/>
        </p:nvSpPr>
        <p:spPr>
          <a:xfrm>
            <a:off x="1215920" y="661719"/>
            <a:ext cx="7543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2: Estrutura de Dados </a:t>
            </a:r>
          </a:p>
          <a:p>
            <a:pPr algn="ctr"/>
            <a:r>
              <a:rPr lang="pt-BR" sz="4000" b="1" dirty="0">
                <a:latin typeface="+mj-lt"/>
              </a:rPr>
              <a:t>e Algoritmo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69AAD0EB-4B02-C136-87F2-C38100AACA0B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Exemplo de Código Real: Usando Objetos em JavaScript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61A56F-953E-0253-26EA-C1A04C9C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519D68-E475-E662-F025-AA5816A1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9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9B9DD0D3-7A07-F60C-43E4-8B4E2197DAD5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39CF050D-0EAC-9453-B391-6461774A3C8C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6D441567-AAC8-A7CC-7C9A-AF266F2FD605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6D0A2979-A628-E65F-FACD-153EBF3096E9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o_componente">
            <a:extLst>
              <a:ext uri="{FF2B5EF4-FFF2-40B4-BE49-F238E27FC236}">
                <a16:creationId xmlns:a16="http://schemas.microsoft.com/office/drawing/2014/main" id="{7B85BDBC-F48F-055C-67C0-85A98C98800C}"/>
              </a:ext>
            </a:extLst>
          </p:cNvPr>
          <p:cNvSpPr txBox="1"/>
          <p:nvPr/>
        </p:nvSpPr>
        <p:spPr>
          <a:xfrm>
            <a:off x="1268225" y="10139338"/>
            <a:ext cx="71304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Estruturas de Dados e Algoritmos não são apenas teoria; são ferramentas que você usará todos os dias para construir aplicações robustas e que escalam (crescem sem quebrar).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0198D1-CF8E-EDDA-F0AE-D5895CAD2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25" y="6354277"/>
            <a:ext cx="7015854" cy="345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7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325E-96AA-C05C-53B8-65644C19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F5D5B88-9202-0727-5BAA-6E74B962A889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135877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F5D8AEE7-624B-ED36-2C95-C7BCA334BA91}"/>
              </a:ext>
            </a:extLst>
          </p:cNvPr>
          <p:cNvSpPr txBox="1"/>
          <p:nvPr/>
        </p:nvSpPr>
        <p:spPr>
          <a:xfrm>
            <a:off x="441251" y="5357968"/>
            <a:ext cx="871869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800" b="1" dirty="0">
                <a:solidFill>
                  <a:schemeClr val="bg1"/>
                </a:solidFill>
                <a:latin typeface="+mj-lt"/>
              </a:rPr>
              <a:t>RESOLUÇÃO DE PROBLEMAS E APRENDIZADO CONTÍNUO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EDC0AED9-A797-DA7D-BEC4-E39FA300F237}"/>
              </a:ext>
            </a:extLst>
          </p:cNvPr>
          <p:cNvSpPr txBox="1"/>
          <p:nvPr/>
        </p:nvSpPr>
        <p:spPr>
          <a:xfrm>
            <a:off x="1435395" y="1876485"/>
            <a:ext cx="650712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800" b="1" dirty="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963FE2C4-E575-2925-FA47-79687341258E}"/>
              </a:ext>
            </a:extLst>
          </p:cNvPr>
          <p:cNvSpPr txBox="1"/>
          <p:nvPr/>
        </p:nvSpPr>
        <p:spPr>
          <a:xfrm>
            <a:off x="1547037" y="9020509"/>
            <a:ext cx="6507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principal trabalho de um desenvolvedor não é escrever código, mas sim resolver problemas. 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880C7FB-D7E4-481A-F1B5-8B7AF513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Sua Jornada rumo à Tecnologia | 2025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4028FEF9-3648-2EAF-FEF1-26255A43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64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E0072-EEE0-069D-00B5-DDB9586A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5F434A55-B70B-6745-6285-3755293C50C7}"/>
              </a:ext>
            </a:extLst>
          </p:cNvPr>
          <p:cNvSpPr txBox="1"/>
          <p:nvPr/>
        </p:nvSpPr>
        <p:spPr>
          <a:xfrm>
            <a:off x="1203158" y="5127252"/>
            <a:ext cx="71828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Seu código vai falhar. Muito. Isso não é um sinal de que você é um mau programador, mas sim parte do processo. A diferença é como você reage a isso.</a:t>
            </a:r>
          </a:p>
          <a:p>
            <a:pPr algn="ctr"/>
            <a:endParaRPr lang="pt-BR" sz="2400" dirty="0"/>
          </a:p>
          <a:p>
            <a:pPr algn="ctr"/>
            <a:r>
              <a:rPr lang="pt-BR" sz="2400" b="1" dirty="0" err="1"/>
              <a:t>Debugging</a:t>
            </a:r>
            <a:r>
              <a:rPr lang="pt-BR" sz="2400" b="1" dirty="0"/>
              <a:t>: </a:t>
            </a:r>
            <a:r>
              <a:rPr lang="pt-BR" sz="2400" dirty="0"/>
              <a:t>É o processo de encontrar e corrigir erros. Encare-o como um jogo de detetive.</a:t>
            </a:r>
          </a:p>
          <a:p>
            <a:pPr algn="ctr"/>
            <a:endParaRPr lang="pt-BR" sz="2400" dirty="0"/>
          </a:p>
          <a:p>
            <a:pPr algn="ctr"/>
            <a:r>
              <a:rPr lang="pt-BR" sz="2400" b="1" dirty="0"/>
              <a:t>Persistência: </a:t>
            </a:r>
            <a:r>
              <a:rPr lang="pt-BR" sz="2400" dirty="0"/>
              <a:t>Não se sinta frustrado após 30 minutos sem achar a solução. Dê um passo para trás, faça uma pausa e volte com a mente renovada.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F194662-CB1C-ED6A-EF94-93B99D7864E7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3: Resolução de Problemas e Aprendizado Contínuo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5E35250B-58D3-AC5A-ACC1-902AADA2049C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Resiliência ao Erro </a:t>
            </a:r>
          </a:p>
          <a:p>
            <a:pPr algn="ctr"/>
            <a:r>
              <a:rPr lang="pt-BR" sz="3200" b="1" dirty="0"/>
              <a:t>(</a:t>
            </a:r>
            <a:r>
              <a:rPr lang="pt-BR" sz="3200" b="1" dirty="0" err="1"/>
              <a:t>Debugging</a:t>
            </a:r>
            <a:r>
              <a:rPr lang="pt-BR" sz="3200" b="1" dirty="0"/>
              <a:t> é a Vida)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647963-1743-35E2-038F-A2222539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DA154F-DFFA-5D2B-D26C-3C69FDB9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11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99D79CD1-7873-9CC8-2598-43E390F6884A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5E73CE82-3AFE-6984-C0D0-703C1D2F80C5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07CA9FB7-CA2B-A995-2966-EF9DA57F4B04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62CB4677-882B-45FC-8637-681F86A0B268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6B333C0-DD17-0629-0F22-3DA8EA20E608}"/>
              </a:ext>
            </a:extLst>
          </p:cNvPr>
          <p:cNvSpPr/>
          <p:nvPr/>
        </p:nvSpPr>
        <p:spPr>
          <a:xfrm>
            <a:off x="314981" y="6922319"/>
            <a:ext cx="7900416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246998-F9FE-3EC0-3C44-27066C4EF575}"/>
              </a:ext>
            </a:extLst>
          </p:cNvPr>
          <p:cNvSpPr/>
          <p:nvPr/>
        </p:nvSpPr>
        <p:spPr>
          <a:xfrm>
            <a:off x="314981" y="8397920"/>
            <a:ext cx="8377224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D4EE7F7-A9BB-EF42-A0E2-C3E4605B0797}"/>
              </a:ext>
            </a:extLst>
          </p:cNvPr>
          <p:cNvSpPr txBox="1"/>
          <p:nvPr/>
        </p:nvSpPr>
        <p:spPr>
          <a:xfrm>
            <a:off x="1223161" y="10289278"/>
            <a:ext cx="71828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Dica: Técnica do Patinho de Borracha</a:t>
            </a:r>
          </a:p>
          <a:p>
            <a:pPr algn="ctr"/>
            <a:r>
              <a:rPr lang="pt-BR" sz="2400" dirty="0"/>
              <a:t>Explique o seu código, linha por linha, para um objeto inanimado (ou um colega). Muitas vezes, a resposta surge quando você verbaliza o problema.</a:t>
            </a:r>
          </a:p>
        </p:txBody>
      </p:sp>
      <p:pic>
        <p:nvPicPr>
          <p:cNvPr id="22" name="Gráfico 21" descr="Pato de borracha estrutura de tópicos">
            <a:extLst>
              <a:ext uri="{FF2B5EF4-FFF2-40B4-BE49-F238E27FC236}">
                <a16:creationId xmlns:a16="http://schemas.microsoft.com/office/drawing/2014/main" id="{B5802FDF-05A1-01D0-153C-B0571D428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55" y="94751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93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04CC-F9C8-A747-AACA-FCC17C46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A4C6F4BC-7316-BC0A-91C6-18307B20D9E4}"/>
              </a:ext>
            </a:extLst>
          </p:cNvPr>
          <p:cNvSpPr txBox="1"/>
          <p:nvPr/>
        </p:nvSpPr>
        <p:spPr>
          <a:xfrm>
            <a:off x="1040702" y="5127252"/>
            <a:ext cx="769446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tecnologia muda incrivelmente rápido. O que você aprendeu hoje pode ser obsoleto em cinco anos. Sua capacidade de se adaptar e aprender coisas novas é a sua maior garantia de empregabilidade.</a:t>
            </a:r>
          </a:p>
          <a:p>
            <a:endParaRPr lang="pt-BR" sz="2400" dirty="0"/>
          </a:p>
          <a:p>
            <a:r>
              <a:rPr lang="pt-BR" sz="2400" b="1" dirty="0"/>
              <a:t>Curiosidade:</a:t>
            </a:r>
            <a:r>
              <a:rPr lang="pt-BR" sz="2400" dirty="0"/>
              <a:t> Esteja sempre aberto a novas linguagens, </a:t>
            </a:r>
            <a:r>
              <a:rPr lang="pt-BR" sz="2400" i="1" dirty="0"/>
              <a:t>frameworks</a:t>
            </a:r>
            <a:r>
              <a:rPr lang="pt-BR" sz="2400" dirty="0"/>
              <a:t> e ferramentas.</a:t>
            </a:r>
          </a:p>
          <a:p>
            <a:endParaRPr lang="pt-BR" sz="2400" dirty="0"/>
          </a:p>
          <a:p>
            <a:r>
              <a:rPr lang="pt-BR" sz="2400" b="1" dirty="0"/>
              <a:t>Documentação:</a:t>
            </a:r>
            <a:r>
              <a:rPr lang="pt-BR" sz="2400" dirty="0"/>
              <a:t> Aprenda a ler a documentação oficial das ferramentas (como a do JavaScript ou </a:t>
            </a:r>
            <a:r>
              <a:rPr lang="pt-BR" sz="2400" dirty="0" err="1"/>
              <a:t>React</a:t>
            </a:r>
            <a:r>
              <a:rPr lang="pt-BR" sz="2400" dirty="0"/>
              <a:t>). Essa é a fonte de informação mais confiável.</a:t>
            </a:r>
          </a:p>
          <a:p>
            <a:endParaRPr lang="pt-BR" sz="2400" dirty="0"/>
          </a:p>
          <a:p>
            <a:r>
              <a:rPr lang="pt-BR" sz="2400" b="1" dirty="0"/>
              <a:t>Comunidade:</a:t>
            </a:r>
            <a:r>
              <a:rPr lang="pt-BR" sz="2400" dirty="0"/>
              <a:t> Participe de fóruns, grupos e eventos. A melhor forma de aprender é ensinando e sendo desafiado por outros.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6001A333-F412-AE59-FD7D-5A149E959EC9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3: Resolução de Problemas e Aprendizado Contínuo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3F1EAF1A-3474-6986-164E-F5F65D2483E8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O Aprendizado Constante: Seu Superpoder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25C711-88A3-CE94-BECE-DF8E065C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60F003-04D6-FBAD-B139-BD520CE6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12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C8F0688E-7F98-B61E-72BE-34118B6989C0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687A47AB-A925-F078-409B-453DB447308E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9040689A-FBF0-F37A-3A75-835E9FA37F59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E906B8E8-A137-0FDB-9138-76D7CA1D7E64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DB87DB-9E71-3370-C409-62D0AB1B6FCC}"/>
              </a:ext>
            </a:extLst>
          </p:cNvPr>
          <p:cNvSpPr/>
          <p:nvPr/>
        </p:nvSpPr>
        <p:spPr>
          <a:xfrm>
            <a:off x="314981" y="6922319"/>
            <a:ext cx="7900416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022020B-5087-4BF0-D0A1-A58D76FDF514}"/>
              </a:ext>
            </a:extLst>
          </p:cNvPr>
          <p:cNvSpPr/>
          <p:nvPr/>
        </p:nvSpPr>
        <p:spPr>
          <a:xfrm>
            <a:off x="314981" y="8397920"/>
            <a:ext cx="8377224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534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4239E-1132-D740-3B1A-936236EE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_componente">
            <a:extLst>
              <a:ext uri="{FF2B5EF4-FFF2-40B4-BE49-F238E27FC236}">
                <a16:creationId xmlns:a16="http://schemas.microsoft.com/office/drawing/2014/main" id="{77E2A5F5-D582-5F9A-EA8A-E56A39074E9A}"/>
              </a:ext>
            </a:extLst>
          </p:cNvPr>
          <p:cNvSpPr txBox="1"/>
          <p:nvPr/>
        </p:nvSpPr>
        <p:spPr>
          <a:xfrm>
            <a:off x="1227221" y="5127252"/>
            <a:ext cx="71467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Ao encarar um problema complexo:</a:t>
            </a:r>
          </a:p>
          <a:p>
            <a:endParaRPr lang="pt-BR" sz="2400" dirty="0"/>
          </a:p>
          <a:p>
            <a:r>
              <a:rPr lang="pt-BR" sz="2400" b="1" dirty="0"/>
              <a:t>Entenda:</a:t>
            </a:r>
            <a:r>
              <a:rPr lang="pt-BR" sz="2400" dirty="0"/>
              <a:t> O que exatamente precisa ser resolvido?</a:t>
            </a:r>
          </a:p>
          <a:p>
            <a:endParaRPr lang="pt-BR" sz="2400" dirty="0"/>
          </a:p>
          <a:p>
            <a:r>
              <a:rPr lang="pt-BR" sz="2400" b="1" dirty="0"/>
              <a:t>Planeje:</a:t>
            </a:r>
            <a:r>
              <a:rPr lang="pt-BR" sz="2400" dirty="0"/>
              <a:t> Qual é a abordagem mais simples (o "caminho feliz")?</a:t>
            </a:r>
          </a:p>
          <a:p>
            <a:endParaRPr lang="pt-BR" sz="2400" dirty="0"/>
          </a:p>
          <a:p>
            <a:r>
              <a:rPr lang="pt-BR" sz="2400" b="1" dirty="0"/>
              <a:t>Divida:</a:t>
            </a:r>
            <a:r>
              <a:rPr lang="pt-BR" sz="2400" dirty="0"/>
              <a:t> Quebre o problema em pequenas tarefas gerenciáveis.</a:t>
            </a:r>
          </a:p>
          <a:p>
            <a:endParaRPr lang="pt-BR" sz="2400" dirty="0"/>
          </a:p>
          <a:p>
            <a:r>
              <a:rPr lang="pt-BR" sz="2400" b="1" dirty="0"/>
              <a:t>Execute:</a:t>
            </a:r>
            <a:r>
              <a:rPr lang="pt-BR" sz="2400" dirty="0"/>
              <a:t> Resolva uma tarefa por vez.</a:t>
            </a:r>
          </a:p>
          <a:p>
            <a:endParaRPr lang="pt-BR" sz="2400" dirty="0"/>
          </a:p>
          <a:p>
            <a:r>
              <a:rPr lang="pt-BR" sz="2400" b="1" dirty="0"/>
              <a:t>Teste:</a:t>
            </a:r>
            <a:r>
              <a:rPr lang="pt-BR" sz="2400" dirty="0"/>
              <a:t> Verifique se tudo funciona conforme o esperado.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A265E3FA-3DB4-1BC8-2B79-E91858D77F7F}"/>
              </a:ext>
            </a:extLst>
          </p:cNvPr>
          <p:cNvSpPr txBox="1"/>
          <p:nvPr/>
        </p:nvSpPr>
        <p:spPr>
          <a:xfrm>
            <a:off x="1040702" y="661719"/>
            <a:ext cx="7900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+mj-lt"/>
              </a:rPr>
              <a:t>Capítulo 3: Resolução de Problemas e Aprendizado Contínuo</a:t>
            </a:r>
          </a:p>
        </p:txBody>
      </p:sp>
      <p:sp>
        <p:nvSpPr>
          <p:cNvPr id="5" name="subtitulo_componente">
            <a:extLst>
              <a:ext uri="{FF2B5EF4-FFF2-40B4-BE49-F238E27FC236}">
                <a16:creationId xmlns:a16="http://schemas.microsoft.com/office/drawing/2014/main" id="{A20C00F7-44C2-9D36-8B2C-63597C25E2BE}"/>
              </a:ext>
            </a:extLst>
          </p:cNvPr>
          <p:cNvSpPr txBox="1"/>
          <p:nvPr/>
        </p:nvSpPr>
        <p:spPr>
          <a:xfrm>
            <a:off x="1547037" y="3613180"/>
            <a:ext cx="65071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Abordagem Estruturada para Problemas</a:t>
            </a:r>
            <a:endParaRPr lang="pt-BR" sz="3200" b="1" dirty="0">
              <a:latin typeface="+mj-lt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28CD7B-4719-D363-5518-917CD1A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Sua Jornada rumo à Tecnologia | 2025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A99AA8-D34D-DA97-84D0-41F75D65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13</a:t>
            </a:fld>
            <a:endParaRPr lang="pt-BR"/>
          </a:p>
        </p:txBody>
      </p:sp>
      <p:sp>
        <p:nvSpPr>
          <p:cNvPr id="9" name="Seta: Pentágono 8">
            <a:extLst>
              <a:ext uri="{FF2B5EF4-FFF2-40B4-BE49-F238E27FC236}">
                <a16:creationId xmlns:a16="http://schemas.microsoft.com/office/drawing/2014/main" id="{FC954082-B718-E603-6B99-BE1227A28950}"/>
              </a:ext>
            </a:extLst>
          </p:cNvPr>
          <p:cNvSpPr/>
          <p:nvPr/>
        </p:nvSpPr>
        <p:spPr>
          <a:xfrm rot="5400000">
            <a:off x="-85968" y="255338"/>
            <a:ext cx="1323439" cy="81276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62F2DFC0-EAC3-8066-066A-8A5DC7E389F3}"/>
              </a:ext>
            </a:extLst>
          </p:cNvPr>
          <p:cNvSpPr/>
          <p:nvPr/>
        </p:nvSpPr>
        <p:spPr>
          <a:xfrm>
            <a:off x="4620599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6EFFFA46-DFFE-AEF6-3A09-A1C3C150474D}"/>
              </a:ext>
            </a:extLst>
          </p:cNvPr>
          <p:cNvSpPr/>
          <p:nvPr/>
        </p:nvSpPr>
        <p:spPr>
          <a:xfrm>
            <a:off x="5368423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51972EDC-6CBC-FB70-842D-C5BA1ED91EA3}"/>
              </a:ext>
            </a:extLst>
          </p:cNvPr>
          <p:cNvSpPr/>
          <p:nvPr/>
        </p:nvSpPr>
        <p:spPr>
          <a:xfrm>
            <a:off x="3872775" y="2662262"/>
            <a:ext cx="360000" cy="360000"/>
          </a:xfrm>
          <a:prstGeom prst="diamond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05C96F6-4BFF-E96C-6CA2-FA20C6E40BCB}"/>
              </a:ext>
            </a:extLst>
          </p:cNvPr>
          <p:cNvSpPr/>
          <p:nvPr/>
        </p:nvSpPr>
        <p:spPr>
          <a:xfrm>
            <a:off x="314981" y="6922319"/>
            <a:ext cx="7900416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6CFD920-1987-FB00-2428-7274B3122FAC}"/>
              </a:ext>
            </a:extLst>
          </p:cNvPr>
          <p:cNvSpPr/>
          <p:nvPr/>
        </p:nvSpPr>
        <p:spPr>
          <a:xfrm>
            <a:off x="314981" y="8397920"/>
            <a:ext cx="8377224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953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FEA9-E449-75BC-5077-6DED632C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902C088-DC2C-1715-8071-1CA6A33F861E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135877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97963B64-468A-8978-9848-FA7B2A011F95}"/>
              </a:ext>
            </a:extLst>
          </p:cNvPr>
          <p:cNvSpPr txBox="1"/>
          <p:nvPr/>
        </p:nvSpPr>
        <p:spPr>
          <a:xfrm>
            <a:off x="1567901" y="1504679"/>
            <a:ext cx="65071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latin typeface="+mj-lt"/>
              </a:rPr>
              <a:t>OBRIGADO POR LER ATÉ AQUI!</a:t>
            </a:r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E07D6A09-B957-067F-6A17-D2550BDE9D72}"/>
              </a:ext>
            </a:extLst>
          </p:cNvPr>
          <p:cNvSpPr txBox="1"/>
          <p:nvPr/>
        </p:nvSpPr>
        <p:spPr>
          <a:xfrm>
            <a:off x="1353857" y="3899206"/>
            <a:ext cx="72514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</a:rPr>
              <a:t>A transição de carreira é uma prova de que você é incrivelmente adaptável. Lembre-se, na tecnologia, o seu diploma mais importante é a sua vontade de aprender.</a:t>
            </a:r>
          </a:p>
          <a:p>
            <a:pPr algn="ctr"/>
            <a:endParaRPr lang="pt-BR" sz="3200" dirty="0">
              <a:solidFill>
                <a:schemeClr val="bg1"/>
              </a:solidFill>
            </a:endParaRPr>
          </a:p>
          <a:p>
            <a:pPr algn="ctr"/>
            <a:r>
              <a:rPr lang="pt-BR" sz="3200" dirty="0">
                <a:solidFill>
                  <a:schemeClr val="bg1"/>
                </a:solidFill>
              </a:rPr>
              <a:t>A cada linha de código que você escreve, você está construindo uma ponte entre o que você é hoje e o desenvolvedor que você será amanhã.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CC944CFD-06B3-C45F-D61B-54963149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Sua Jornada rumo à Tecnologia | 2025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DE711566-1F62-52C3-0D2F-AC8CDB85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4B86-1664-47E8-8FCD-11751E583C99}" type="slidenum">
              <a:rPr lang="pt-BR" smtClean="0"/>
              <a:t>14</a:t>
            </a:fld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66AF9E0-DC76-95BD-3F2A-162D2DE4A044}"/>
              </a:ext>
            </a:extLst>
          </p:cNvPr>
          <p:cNvSpPr/>
          <p:nvPr/>
        </p:nvSpPr>
        <p:spPr>
          <a:xfrm>
            <a:off x="1178951" y="9754611"/>
            <a:ext cx="7426309" cy="16860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franciele-srod/</a:t>
            </a:r>
          </a:p>
        </p:txBody>
      </p:sp>
      <p:sp>
        <p:nvSpPr>
          <p:cNvPr id="15" name="texto_componente">
            <a:extLst>
              <a:ext uri="{FF2B5EF4-FFF2-40B4-BE49-F238E27FC236}">
                <a16:creationId xmlns:a16="http://schemas.microsoft.com/office/drawing/2014/main" id="{F23B6208-A895-66C6-6DEB-D624920854D0}"/>
              </a:ext>
            </a:extLst>
          </p:cNvPr>
          <p:cNvSpPr txBox="1"/>
          <p:nvPr/>
        </p:nvSpPr>
        <p:spPr>
          <a:xfrm>
            <a:off x="1353857" y="9998990"/>
            <a:ext cx="650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Franciele Rodrigues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6F7A815-B11D-F408-DD77-41BEFC9F658F}"/>
              </a:ext>
            </a:extLst>
          </p:cNvPr>
          <p:cNvGrpSpPr/>
          <p:nvPr/>
        </p:nvGrpSpPr>
        <p:grpSpPr>
          <a:xfrm>
            <a:off x="1353857" y="10715499"/>
            <a:ext cx="2705497" cy="581422"/>
            <a:chOff x="1353857" y="10715499"/>
            <a:chExt cx="2705497" cy="581422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61AD9C52-B431-8EA9-C1A8-A238317C9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857" y="10715499"/>
              <a:ext cx="581422" cy="581422"/>
            </a:xfrm>
            <a:prstGeom prst="rect">
              <a:avLst/>
            </a:prstGeom>
          </p:spPr>
        </p:pic>
        <p:sp>
          <p:nvSpPr>
            <p:cNvPr id="20" name="texto_componente">
              <a:hlinkClick r:id="rId3"/>
              <a:extLst>
                <a:ext uri="{FF2B5EF4-FFF2-40B4-BE49-F238E27FC236}">
                  <a16:creationId xmlns:a16="http://schemas.microsoft.com/office/drawing/2014/main" id="{0C83EC34-B24A-B831-AEF5-711637F4DEFC}"/>
                </a:ext>
              </a:extLst>
            </p:cNvPr>
            <p:cNvSpPr txBox="1"/>
            <p:nvPr/>
          </p:nvSpPr>
          <p:spPr>
            <a:xfrm>
              <a:off x="1935278" y="10775377"/>
              <a:ext cx="21240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 err="1">
                  <a:solidFill>
                    <a:schemeClr val="accent1">
                      <a:lumMod val="50000"/>
                    </a:schemeClr>
                  </a:solidFill>
                </a:rPr>
                <a:t>franciele-srod</a:t>
              </a:r>
              <a:endParaRPr lang="pt-BR" sz="2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E6054E0-C7B1-B54F-1DB2-B3FF83CFF6B0}"/>
              </a:ext>
            </a:extLst>
          </p:cNvPr>
          <p:cNvGrpSpPr/>
          <p:nvPr/>
        </p:nvGrpSpPr>
        <p:grpSpPr>
          <a:xfrm>
            <a:off x="4892106" y="10715499"/>
            <a:ext cx="3530142" cy="581422"/>
            <a:chOff x="4892106" y="10715499"/>
            <a:chExt cx="3530142" cy="581422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59A9333A-755C-CC9F-44D4-6420FC938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2106" y="10715499"/>
              <a:ext cx="581422" cy="581422"/>
            </a:xfrm>
            <a:prstGeom prst="rect">
              <a:avLst/>
            </a:prstGeom>
          </p:spPr>
        </p:pic>
        <p:sp>
          <p:nvSpPr>
            <p:cNvPr id="21" name="texto_componente">
              <a:hlinkClick r:id="rId5"/>
              <a:extLst>
                <a:ext uri="{FF2B5EF4-FFF2-40B4-BE49-F238E27FC236}">
                  <a16:creationId xmlns:a16="http://schemas.microsoft.com/office/drawing/2014/main" id="{66119A1B-465D-1E10-7271-E87E760461E3}"/>
                </a:ext>
              </a:extLst>
            </p:cNvPr>
            <p:cNvSpPr txBox="1"/>
            <p:nvPr/>
          </p:nvSpPr>
          <p:spPr>
            <a:xfrm>
              <a:off x="5473528" y="10775377"/>
              <a:ext cx="29487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 err="1">
                  <a:solidFill>
                    <a:schemeClr val="accent1">
                      <a:lumMod val="50000"/>
                    </a:schemeClr>
                  </a:solidFill>
                </a:rPr>
                <a:t>FrancieleSRodrigues</a:t>
              </a:r>
              <a:endParaRPr lang="pt-BR" sz="2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89558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791</TotalTime>
  <Words>1093</Words>
  <Application>Microsoft Office PowerPoint</Application>
  <PresentationFormat>Papel A3 (297 x 420 mm)</PresentationFormat>
  <Paragraphs>126</Paragraphs>
  <Slides>14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Tw Cen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Franciele Rodrigues</dc:creator>
  <cp:lastModifiedBy>Franciele Rodrigues</cp:lastModifiedBy>
  <cp:revision>2</cp:revision>
  <dcterms:created xsi:type="dcterms:W3CDTF">2025-11-16T03:08:30Z</dcterms:created>
  <dcterms:modified xsi:type="dcterms:W3CDTF">2025-11-16T16:19:37Z</dcterms:modified>
</cp:coreProperties>
</file>